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Palli Sahayak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पल्ली सहायक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Voice AI Helpline for Palliative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280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"Companion in Care" — A Digital Public Good for India and Beyond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6583680"/>
            <a:ext cx="2926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15+ Indian Languages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6583680"/>
            <a:ext cx="2926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24/7 Availability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6583680"/>
            <a:ext cx="2926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Clinically Grounded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6583680"/>
            <a:ext cx="29260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12121"/>
                </a:solidFill>
              </a:defRPr>
            </a:pPr>
            <a:r>
              <a:t>Funded by Grand Challenges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96B"/>
                </a:solidFill>
              </a:defRPr>
            </a:pPr>
            <a:r>
              <a:t>Primary Funders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560320"/>
            <a:ext cx="41148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Gates Foundation</a:t>
            </a:r>
          </a:p>
          <a:p>
            <a:pPr algn="ctr">
              <a:defRPr sz="1200">
                <a:solidFill>
                  <a:srgbClr val="212121"/>
                </a:solidFill>
              </a:defRPr>
            </a:pPr>
            <a:r>
              <a:t>Bill &amp; Melinda Gates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560320"/>
            <a:ext cx="411480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BIRAC-DBT</a:t>
            </a:r>
          </a:p>
          <a:p>
            <a:pPr algn="ctr">
              <a:defRPr sz="1200">
                <a:solidFill>
                  <a:srgbClr val="212121"/>
                </a:solidFill>
              </a:defRPr>
            </a:pPr>
            <a:r>
              <a:t>Biotechnology Industry Research Assistance Council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96B"/>
                </a:solidFill>
              </a:defRPr>
            </a:pPr>
            <a:r>
              <a:t>Principal Investigators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572000"/>
            <a:ext cx="4114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Dr. Anurag Agrawal</a:t>
            </a:r>
          </a:p>
          <a:p>
            <a:pPr algn="ctr">
              <a:defRPr sz="1400">
                <a:solidFill>
                  <a:srgbClr val="00696B"/>
                </a:solidFill>
              </a:defRPr>
            </a:pPr>
            <a:r>
              <a:t>Principal Investigator</a:t>
            </a:r>
          </a:p>
          <a:p>
            <a:pPr algn="ctr">
              <a:defRPr sz="1200">
                <a:solidFill>
                  <a:srgbClr val="212121"/>
                </a:solidFill>
              </a:defRPr>
            </a:pPr>
            <a:r>
              <a:t>Ashoka University / KCDH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572000"/>
            <a:ext cx="4114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12121"/>
                </a:solidFill>
              </a:defRPr>
            </a:pPr>
            <a:r>
              <a:t>Ashish Makani</a:t>
            </a:r>
          </a:p>
          <a:p>
            <a:pPr algn="ctr">
              <a:defRPr sz="1400">
                <a:solidFill>
                  <a:srgbClr val="00696B"/>
                </a:solidFill>
              </a:defRPr>
            </a:pPr>
            <a:r>
              <a:t>Co-Investigator</a:t>
            </a:r>
          </a:p>
          <a:p>
            <a:pPr algn="ctr">
              <a:defRPr sz="1200">
                <a:solidFill>
                  <a:srgbClr val="212121"/>
                </a:solidFill>
              </a:defRPr>
            </a:pPr>
            <a:r>
              <a:t>inventcures.github.io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Clinical Partners: Pallium India  |  Max Healthcare  |  CanSupport  |  DNipCare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12121"/>
                </a:solidFill>
              </a:defRPr>
            </a:pPr>
            <a:r>
              <a:t>Special thanks to Dr. Parth Sharma (ASAR/Nivarana) for facilitating Pallium India collaboration</a:t>
            </a:r>
          </a:p>
          <a:p>
            <a:pPr algn="ctr">
              <a:defRPr sz="1400" i="1">
                <a:solidFill>
                  <a:srgbClr val="2E7D32"/>
                </a:solidFill>
              </a:defRPr>
            </a:pPr>
            <a:r>
              <a:t>Mentorship: Padma Shri Dr. M.R. Rajagopal — Father of Palliative Care in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62828"/>
                </a:solidFill>
              </a:defRPr>
            </a:pPr>
            <a:r>
              <a:t>The Palliative Care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2286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Only 1-2%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of 10+ million Indians needing palliative care receive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754880"/>
            <a:ext cx="36576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C62828"/>
                </a:solidFill>
              </a:defRPr>
            </a:pPr>
            <a:r>
              <a:t>57M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People need palliative</a:t>
            </a:r>
            <a:br/>
            <a:r>
              <a:t>care globally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4754880"/>
            <a:ext cx="36576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C62828"/>
                </a:solidFill>
              </a:defRPr>
            </a:pPr>
            <a:r>
              <a:t>78%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Live in low &amp; middle</a:t>
            </a:r>
            <a:br/>
            <a:r>
              <a:t>income countries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4754880"/>
            <a:ext cx="36576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C62828"/>
                </a:solidFill>
              </a:defRPr>
            </a:pPr>
            <a:r>
              <a:t>10M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Health worker shortage</a:t>
            </a:r>
            <a:br/>
            <a:r>
              <a:t>projected 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121"/>
                </a:solidFill>
              </a:defRPr>
            </a:pPr>
            <a:r>
              <a:t>98% of patients and their families are left without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India's Digital Infrastructure: An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457200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500M+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WhatsApp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4572000" cy="18288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1.2B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Mobile Subscribers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4572000" cy="18288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22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Scheduled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114800"/>
            <a:ext cx="4572000" cy="18288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Bhashini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AI Language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6583680"/>
            <a:ext cx="109728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Voice-first AI can reach anyone with a phone — no app, no internet, no literacy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Introducing Palli Sahayak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96B"/>
                </a:solidFill>
              </a:defRPr>
            </a:pPr>
            <a:r>
              <a:t>AI Voice Helpline for Palliative 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Phone Calls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Dial in any language, get</a:t>
            </a:r>
            <a:br/>
            <a:r>
              <a:t>clinically-grounded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0116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WhatsApp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Text or voice messages</a:t>
            </a:r>
            <a:br/>
            <a:r>
              <a:t>in 15+ Indian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Web Voice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Real-time voice streaming</a:t>
            </a:r>
            <a:br/>
            <a:r>
              <a:t>via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297680"/>
            <a:ext cx="5486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Always Safe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Emergency detection</a:t>
            </a:r>
            <a:br/>
            <a:r>
              <a:t>&amp; professional referral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6858000"/>
            <a:ext cx="1097280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Answering questions at 2 AM when families need help most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3200400" cy="9144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Phone</a:t>
            </a:r>
            <a:br/>
            <a:r>
              <a:t>(Bolna.ai)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3200400" cy="9144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WhatsApp</a:t>
            </a:r>
            <a:br/>
            <a:r>
              <a:t>(Twilio)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1645920"/>
            <a:ext cx="3200400" cy="9144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 Voice</a:t>
            </a:r>
            <a:br/>
            <a:r>
              <a:t>(Gemini Live)</a:t>
            </a:r>
          </a:p>
        </p:txBody>
      </p:sp>
      <p:sp>
        <p:nvSpPr>
          <p:cNvPr id="6" name="Down Arrow 5"/>
          <p:cNvSpPr/>
          <p:nvPr/>
        </p:nvSpPr>
        <p:spPr>
          <a:xfrm>
            <a:off x="6858000" y="2651760"/>
            <a:ext cx="914400" cy="548640"/>
          </a:xfrm>
          <a:prstGeom prst="down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3291840"/>
            <a:ext cx="7315200" cy="8229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Voice Router &amp; Smart Query Classifier</a:t>
            </a:r>
          </a:p>
        </p:txBody>
      </p:sp>
      <p:sp>
        <p:nvSpPr>
          <p:cNvPr id="8" name="Down Arrow 7"/>
          <p:cNvSpPr/>
          <p:nvPr/>
        </p:nvSpPr>
        <p:spPr>
          <a:xfrm>
            <a:off x="6858000" y="4206240"/>
            <a:ext cx="914400" cy="548640"/>
          </a:xfrm>
          <a:prstGeom prst="down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1188720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Hybrid RAG Pipeline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ChromaDB Vector Search  +  Neo4j Knowledge Graph  +  GraphRAG Community Reports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858000" y="6309360"/>
            <a:ext cx="914400" cy="548640"/>
          </a:xfrm>
          <a:prstGeom prst="down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6949440"/>
            <a:ext cx="7315200" cy="82296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Clinically Validated Voice/Text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Why Voice-First Design?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Literacy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Voice works for everyone</a:t>
            </a:r>
            <a:br/>
            <a:r>
              <a:t>regardless of reading 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82880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Technology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No smartphone needed</a:t>
            </a:r>
            <a:br/>
            <a:r>
              <a:t>Just a basic phone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82880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Language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Speak in your mother tongue</a:t>
            </a:r>
            <a:br/>
            <a:r>
              <a:t>15+ Indian 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Geography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Rural areas with voice</a:t>
            </a:r>
            <a:br/>
            <a:r>
              <a:t>only connectivity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438912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Timing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24/7 availability</a:t>
            </a:r>
            <a:br/>
            <a:r>
              <a:t>Help at 2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4389120"/>
            <a:ext cx="4114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Dignity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Understood in your language</a:t>
            </a:r>
            <a:br/>
            <a:r>
              <a:t>respected in your 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1323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96B"/>
                </a:solidFill>
              </a:defRPr>
            </a:pPr>
            <a:r>
              <a:t>Voice AI democratizes access to quality healthcare information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15+ Indian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96B"/>
                </a:solidFill>
              </a:defRPr>
            </a:pPr>
            <a:r>
              <a:t>Speaking to users in their mother tongue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10896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हिन्दी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Hindi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310896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English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011680"/>
            <a:ext cx="310896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বাংলা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Bengali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2011680"/>
            <a:ext cx="310896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தமிழ்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Tamil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3108960" cy="118872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తెలుగు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Telugu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474720"/>
            <a:ext cx="3108960" cy="118872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मराठी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Marathi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474720"/>
            <a:ext cx="3108960" cy="118872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ગુજરાતી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Gujarati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3474720"/>
            <a:ext cx="3108960" cy="118872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ಕನ್ನಡ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Kannada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310896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മലയാളം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Malayalam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937760"/>
            <a:ext cx="310896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ਪੰਜਾਬੀ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Punjabi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937760"/>
            <a:ext cx="310896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ଓଡ଼ିଆ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Odia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4937760"/>
            <a:ext cx="310896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অসমীয়া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Assamese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6583680"/>
            <a:ext cx="109728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565C0"/>
                </a:solidFill>
              </a:defRPr>
            </a:pPr>
            <a:r>
              <a:t>Powered by Bhashini — India's Government AI Language Platform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Free API access for Digital Public Goods | 22 scheduled languages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Clinical RAG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96B"/>
                </a:solidFill>
              </a:defRPr>
            </a:pPr>
            <a:r>
              <a:t>Retrieval-Augmented Generation with Medical Guidelines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108960" cy="18288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User Question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Voice or text query</a:t>
            </a:r>
            <a:br/>
            <a:r>
              <a:t>in any language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743200"/>
            <a:ext cx="457200" cy="365760"/>
          </a:xfrm>
          <a:prstGeom prst="right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2103120"/>
            <a:ext cx="3108960" cy="18288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Query Processing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Translation + entity</a:t>
            </a:r>
            <a:br/>
            <a:r>
              <a:t>extraction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132320" y="2743200"/>
            <a:ext cx="457200" cy="365760"/>
          </a:xfrm>
          <a:prstGeom prst="right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2103120"/>
            <a:ext cx="310896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Knowledge Retrieval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Search clinical</a:t>
            </a:r>
            <a:br/>
            <a:r>
              <a:t>guidelines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607040" y="2743200"/>
            <a:ext cx="457200" cy="365760"/>
          </a:xfrm>
          <a:prstGeom prst="rightArrow">
            <a:avLst/>
          </a:prstGeom>
          <a:solidFill>
            <a:srgbClr val="21212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0" y="2103120"/>
            <a:ext cx="3108960" cy="18288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Response Generation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Contextual answer</a:t>
            </a:r>
            <a:br/>
            <a:r>
              <a:t>with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Grounded in Clinical Guidelines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310896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WHO Palliative Care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029200"/>
            <a:ext cx="310896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IAHPC Essential Practices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5029200"/>
            <a:ext cx="310896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IAPC Handbook (India)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5029200"/>
            <a:ext cx="310896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Pallium India Protocols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6217920"/>
            <a:ext cx="1097280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Every response is grounded in verified medical sources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Citations provided | No hallucinations | Expert-validated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Triple-Layer Knowledge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114800" cy="32004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Vector Search</a:t>
            </a:r>
          </a:p>
          <a:p>
            <a:pPr>
              <a:defRPr sz="800"/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Semantic similarity</a:t>
            </a:r>
            <a:br/>
            <a:r>
              <a:t>384-dimensional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828800"/>
            <a:ext cx="4114800" cy="3200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Neo4j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Knowledge Graph</a:t>
            </a:r>
          </a:p>
          <a:p>
            <a:pPr>
              <a:defRPr sz="800"/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Structured relationships</a:t>
            </a:r>
            <a:br/>
            <a:r>
              <a:t>18 entity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828800"/>
            <a:ext cx="4114800" cy="3200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GraphRAG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Community Reports</a:t>
            </a:r>
          </a:p>
          <a:p>
            <a:pPr>
              <a:defRPr sz="800"/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Multi-hop reasoning</a:t>
            </a:r>
            <a:br/>
            <a:r>
              <a:t>Leiden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10972800" cy="2103120"/>
          </a:xfrm>
          <a:prstGeom prst="roundRect">
            <a:avLst/>
          </a:prstGeom>
          <a:solidFill>
            <a:srgbClr val="F5F5F5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F00"/>
                </a:solidFill>
              </a:defRPr>
            </a:pPr>
            <a:r>
              <a:t>Intelligent Context Fusion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FUSE: When multiple contexts are equally relevant (distance &lt; 0.15)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FOCUS: When one context is clearly best</a:t>
            </a:r>
          </a:p>
          <a:p>
            <a:pPr algn="ctr">
              <a:defRPr sz="1400" i="1">
                <a:solidFill>
                  <a:srgbClr val="00696B"/>
                </a:solidFill>
              </a:defRPr>
            </a:pPr>
            <a:r>
              <a:t>Prevents hallucination while maximizing relevant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Clinical Validation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62828"/>
                </a:solidFill>
              </a:defRPr>
            </a:pPr>
            <a:r>
              <a:t>Ensuring Safe, Accurate Medical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1089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Dosage Check</a:t>
            </a:r>
          </a:p>
          <a:p>
            <a:pPr algn="ctr">
              <a:defRPr sz="1300">
                <a:solidFill>
                  <a:srgbClr val="212121"/>
                </a:solidFill>
              </a:defRPr>
            </a:pPr>
            <a:r>
              <a:t>Validate medication</a:t>
            </a:r>
            <a:br/>
            <a:r>
              <a:t>doses against ranges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31089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Safety Keywords</a:t>
            </a:r>
          </a:p>
          <a:p>
            <a:pPr algn="ctr">
              <a:defRPr sz="1300">
                <a:solidFill>
                  <a:srgbClr val="212121"/>
                </a:solidFill>
              </a:defRPr>
            </a:pPr>
            <a:r>
              <a:t>Detect emergencies</a:t>
            </a:r>
            <a:br/>
            <a:r>
              <a:t>and urgent situations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011680"/>
            <a:ext cx="31089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Hallucination Check</a:t>
            </a:r>
          </a:p>
          <a:p>
            <a:pPr algn="ctr">
              <a:defRPr sz="1300">
                <a:solidFill>
                  <a:srgbClr val="212121"/>
                </a:solidFill>
              </a:defRPr>
            </a:pPr>
            <a:r>
              <a:t>Verify response against</a:t>
            </a:r>
            <a:br/>
            <a:r>
              <a:t>source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2011680"/>
            <a:ext cx="310896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Citation Verify</a:t>
            </a:r>
          </a:p>
          <a:p>
            <a:pPr algn="ctr">
              <a:defRPr sz="1300">
                <a:solidFill>
                  <a:srgbClr val="212121"/>
                </a:solidFill>
              </a:defRPr>
            </a:pPr>
            <a:r>
              <a:t>Ensure proper source</a:t>
            </a:r>
            <a:br/>
            <a:r>
              <a:t>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96B"/>
                </a:solidFill>
              </a:defRPr>
            </a:pPr>
            <a:r>
              <a:t>Expert Review Sampling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75488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Normal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2743200" cy="11887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High-risk topics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754880"/>
            <a:ext cx="2743200" cy="11887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Critical/Emergency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6400800"/>
            <a:ext cx="109728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Target: 95%+ Accuracy  |  &lt;2% Hallucination  |  90%+ Expert Agreement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Adaptive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96B"/>
                </a:solidFill>
              </a:defRPr>
            </a:pPr>
            <a:r>
              <a:t>Automatic Role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Patient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Personal symptom</a:t>
            </a:r>
            <a:br/>
            <a:r>
              <a:t>management</a:t>
            </a:r>
          </a:p>
          <a:p>
            <a:pPr algn="ctr">
              <a:defRPr sz="1200" i="1">
                <a:solidFill>
                  <a:srgbClr val="00696B"/>
                </a:solidFill>
              </a:defRPr>
            </a:pPr>
            <a:r>
              <a:t>"मुझे दर्द हो रहा है"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Caregiver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Care guidance for</a:t>
            </a:r>
            <a:br/>
            <a:r>
              <a:t>family member</a:t>
            </a:r>
          </a:p>
          <a:p>
            <a:pPr algn="ctr">
              <a:defRPr sz="1200" i="1">
                <a:solidFill>
                  <a:srgbClr val="00696B"/>
                </a:solidFill>
              </a:defRPr>
            </a:pPr>
            <a:r>
              <a:t>"my mother has..."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011680"/>
            <a:ext cx="393192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Healthcare Worker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Clinical decision</a:t>
            </a:r>
            <a:br/>
            <a:r>
              <a:t>support</a:t>
            </a:r>
          </a:p>
          <a:p>
            <a:pPr algn="ctr">
              <a:defRPr sz="1200" i="1">
                <a:solidFill>
                  <a:srgbClr val="00696B"/>
                </a:solidFill>
              </a:defRPr>
            </a:pPr>
            <a:r>
              <a:t>"my patient needs..."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696B"/>
                </a:solidFill>
              </a:defRPr>
            </a:pPr>
            <a:r>
              <a:t>Context Memory Across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46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Patient Condition: Cancer, COPD, Heart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8463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Current Symptoms: Pain, Nausea,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9436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Medications: Morphine 10mg, Ondansetron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59436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Allergies: Drug sensitivities recorded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E7D32"/>
                </a:solidFill>
              </a:defRPr>
            </a:pPr>
            <a:r>
              <a:t>"Last time you asked about pain management..." — Continuity of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Real-time Analytics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10896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Response Time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P50: 400ms</a:t>
            </a:r>
            <a:br/>
            <a:r>
              <a:t>P95: 800ms</a:t>
            </a:r>
            <a:br/>
            <a:r>
              <a:t>P99: 1.2s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645920"/>
            <a:ext cx="3108960" cy="164592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RAG Success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89.3%</a:t>
            </a:r>
            <a:br/>
            <a:r>
              <a:t>retrieval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45920"/>
            <a:ext cx="310896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Validation Rate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95.2%</a:t>
            </a:r>
            <a:br/>
            <a:r>
              <a:t>pass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0" y="1645920"/>
            <a:ext cx="3108960" cy="164592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User Satisfaction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4.6/5.0</a:t>
            </a:r>
            <a:br/>
            <a:r>
              <a:t>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Language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41148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Hindi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114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45%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164592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Bengali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720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02920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Tamil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0292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486400"/>
            <a:ext cx="9144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4864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943600"/>
            <a:ext cx="13716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Others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9436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566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Topic Distribution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114800"/>
            <a:ext cx="4180114" cy="3200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114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Pain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8354" y="4114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32%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572000"/>
            <a:ext cx="3135085" cy="3200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5720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Symptoms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13325" y="45720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24%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5029200"/>
            <a:ext cx="2351314" cy="3200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50292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Medications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9554" y="50292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5486400"/>
            <a:ext cx="1828800" cy="3200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54864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Caregiver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54864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5943600"/>
            <a:ext cx="1567542" cy="3200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5943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End-of-Life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5782" y="59436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2121"/>
                </a:solidFill>
              </a:defRPr>
            </a:pPr>
            <a:r>
              <a:t>12%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6858000"/>
            <a:ext cx="10972800" cy="7315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System Health: HEALTHY  |  Alerts: 0  |  Uptime: 99.9%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A Digital Public Good (DPG)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96B"/>
                </a:solidFill>
              </a:defRPr>
            </a:pPr>
            <a:r>
              <a:t>Open Source | Replicable | Sustainable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Open Source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MIT License</a:t>
            </a:r>
            <a:br/>
            <a:r>
              <a:t>Publicly on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SDG Aligned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SDG 3: Good Health</a:t>
            </a:r>
            <a:br/>
            <a:r>
              <a:t>SDG 10: Reduced Inequalities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01168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Privacy First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No personal health data</a:t>
            </a:r>
            <a:br/>
            <a:r>
              <a:t>Anonymized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Do No Harm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Medical guardrails</a:t>
            </a:r>
            <a:br/>
            <a:r>
              <a:t>Professional referral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11480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Interoperable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REST APIs</a:t>
            </a:r>
            <a:br/>
            <a:r>
              <a:t>Modular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4114800"/>
            <a:ext cx="41148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✓ Data Standards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SNOMED, ICD-10</a:t>
            </a:r>
            <a:br/>
            <a:r>
              <a:t>Medical ontologies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6583680"/>
            <a:ext cx="10972800" cy="9144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Aligned with Digital Public Goods Alliance (DPGA) Standards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Beyond India: Global Replicability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96B"/>
                </a:solidFill>
              </a:defRPr>
            </a:pPr>
            <a:r>
              <a:t>A model for palliative care AI worldwide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943600" cy="365760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FF8F00"/>
                </a:solidFill>
              </a:defRPr>
            </a:pPr>
            <a:r>
              <a:t># config.yaml - Kenya Example</a:t>
            </a:r>
          </a:p>
          <a:p>
            <a:br/>
            <a:pPr algn="l">
              <a:defRPr sz="1200">
                <a:solidFill>
                  <a:srgbClr val="FFFFFF"/>
                </a:solidFill>
              </a:defRPr>
            </a:pPr>
            <a:r>
              <a:t>country: "kenya"</a:t>
            </a:r>
            <a:br/>
            <a:r>
              <a:t>languages:</a:t>
            </a:r>
            <a:br/>
            <a:r>
              <a:t>  - code: "sw"</a:t>
            </a:r>
            <a:br/>
            <a:r>
              <a:t>    name: "Swahili"</a:t>
            </a:r>
            <a:br/>
            <a:r>
              <a:t>  - code: "en"</a:t>
            </a:r>
            <a:br/>
            <a:r>
              <a:t>    name: "English"</a:t>
            </a:r>
            <a:br/>
            <a:br/>
            <a:r>
              <a:t>corpus:</a:t>
            </a:r>
            <a:br/>
            <a:r>
              <a:t>  source: "kenya_palliative_guidelines"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96B"/>
                </a:solidFill>
              </a:defRPr>
            </a:pPr>
            <a:r>
              <a:t>Potential Adaptations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468880"/>
            <a:ext cx="6400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Sub-Saharan Africa</a:t>
            </a:r>
          </a:p>
          <a:p>
            <a:pPr algn="l">
              <a:defRPr sz="1200">
                <a:solidFill>
                  <a:srgbClr val="212121"/>
                </a:solidFill>
              </a:defRPr>
            </a:pPr>
            <a:r>
              <a:t>Kenya, Nigeria, South Africa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474720"/>
            <a:ext cx="6400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Southeast Asia</a:t>
            </a:r>
          </a:p>
          <a:p>
            <a:pPr algn="l">
              <a:defRPr sz="1200">
                <a:solidFill>
                  <a:srgbClr val="212121"/>
                </a:solidFill>
              </a:defRPr>
            </a:pPr>
            <a:r>
              <a:t>Indonesia, Philippines, Vietnam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480560"/>
            <a:ext cx="6400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Latin America</a:t>
            </a:r>
          </a:p>
          <a:p>
            <a:pPr algn="l">
              <a:defRPr sz="1200">
                <a:solidFill>
                  <a:srgbClr val="212121"/>
                </a:solidFill>
              </a:defRPr>
            </a:pPr>
            <a:r>
              <a:t>Brazil, Mexico, Colombia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5486400"/>
            <a:ext cx="6400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Middle East</a:t>
            </a:r>
          </a:p>
          <a:p>
            <a:pPr algn="l">
              <a:defRPr sz="1200">
                <a:solidFill>
                  <a:srgbClr val="212121"/>
                </a:solidFill>
              </a:defRPr>
            </a:pPr>
            <a:r>
              <a:t>Egypt, Jordan, Lebanon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6492240"/>
            <a:ext cx="6400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Developed Nations</a:t>
            </a:r>
          </a:p>
          <a:p>
            <a:pPr algn="l">
              <a:defRPr sz="1200">
                <a:solidFill>
                  <a:srgbClr val="212121"/>
                </a:solidFill>
              </a:defRPr>
            </a:pPr>
            <a:r>
              <a:t>Rural US, UK NHS, Australia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43600"/>
            <a:ext cx="13167360" cy="1645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Partnership Opportunities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WHO | UNICEF | Open Source Pharma | Local Health Ministries | IAHPC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Impact Metrics &amp;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36576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2860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V1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645920"/>
            <a:ext cx="22860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V2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1645920"/>
            <a:ext cx="22860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Improvement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94560"/>
            <a:ext cx="3657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Monthly Active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19456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19456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219456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100x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4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Languages Supported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83464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83464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15+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83464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2.5x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474720"/>
            <a:ext cx="3657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Response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47472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47472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95%+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347472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+10%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11480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Voice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11480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2.5s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11480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&lt;0.5s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11480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5x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754880"/>
            <a:ext cx="3657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Healthcare Workers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75488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75488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10,000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4754880"/>
            <a:ext cx="2286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100x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394960"/>
            <a:ext cx="3657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Cost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539496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$0.02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39496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12121"/>
                </a:solidFill>
              </a:defRPr>
            </a:pPr>
            <a:r>
              <a:t>$0.005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5394960"/>
            <a:ext cx="22860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4x cheaper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6217920"/>
            <a:ext cx="11887200" cy="13716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2-Year Vision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1M Users  |  500K Care Decisions/Year  |  10 Countries  |  5 State Adoptions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Partners &amp; Collaborations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9436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Clinical Partners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Pallium India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Max Healthcare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CanSupport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DNipCare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59436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696B"/>
                </a:solidFill>
              </a:defRPr>
            </a:pPr>
            <a:r>
              <a:t>Academic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Ashoka University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KCDH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ASAR/Nivarana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06240"/>
            <a:ext cx="59436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565C0"/>
                </a:solidFill>
              </a:defRPr>
            </a:pPr>
            <a:r>
              <a:t>Government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BIRAC-DBT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Grand Challenges India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Bhashini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206240"/>
            <a:ext cx="59436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8F00"/>
                </a:solidFill>
              </a:defRPr>
            </a:pPr>
            <a:r>
              <a:t>Funders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Gates Foundation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• BIRAC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583680"/>
            <a:ext cx="1280160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Mentorship: Padma Shri Dr. M.R. Rajagopal — Father of Palliative Care in India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400800" cy="1554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Framework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FastAPI • Uvicorn • Gradio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645920"/>
            <a:ext cx="6400800" cy="155448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Voice AI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Bolna.ai • Gemini Live • Groq Whisper • Edge TTS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6400800" cy="1554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RAG Pipeline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ChromaDB • Neo4j • Microsoft GraphRAG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474720"/>
            <a:ext cx="6400800" cy="155448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LLMs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Groq (llama-3.1-8b) • Qwen3-32B • GPT-4o-mini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6400800" cy="155448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Languages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Bhashini • Deepgram • ElevenLabs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5303520"/>
            <a:ext cx="6400800" cy="1554480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Python 3.11 • Docker • ngrok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6858000"/>
            <a:ext cx="109728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100% Open Source • github.com/inventcures/rag_gci • MIT License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Situated in Indian Socio-Cultural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40080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Family-Centered Care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Healthcare decisions are family matters.</a:t>
            </a:r>
            <a:br/>
            <a:r>
              <a:t>Palli Sahayak supports family caregivers.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645920"/>
            <a:ext cx="640080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Spiritual Dimensions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End-of-life care integrates spiritual practices.</a:t>
            </a:r>
            <a:br/>
            <a:r>
              <a:t>Respectful of diverse beliefs.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640080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Home-Based Care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Most palliative care happens at home.</a:t>
            </a:r>
            <a:br/>
            <a:r>
              <a:t>Designed for caregivers, not just professionals.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931920"/>
            <a:ext cx="640080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Language Diversity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India's linguistic diversity is respected.</a:t>
            </a:r>
            <a:br/>
            <a:r>
              <a:t>15+ languages with cultural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6217920"/>
            <a:ext cx="12801600" cy="13716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India-Specific Case Scenarios Dataset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Curated with Pallium India &amp; Max Healthcare — Reflecting local clinical contexts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D32"/>
                </a:solidFill>
              </a:defRPr>
            </a:pPr>
            <a:r>
              <a:t>Development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114800" cy="4114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Q1-Q2 2026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Scale &amp; Validate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GraphRAG integration</a:t>
            </a:r>
            <a:br/>
            <a:r>
              <a:t>• Clinical validation</a:t>
            </a:r>
            <a:br/>
            <a:r>
              <a:t>• 15 language rollout</a:t>
            </a:r>
            <a:br/>
            <a:r>
              <a:t>• Sub-500ms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828800"/>
            <a:ext cx="4114800" cy="4114800"/>
          </a:xfrm>
          <a:prstGeom prst="round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Q3-Q4 2026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Expand &amp; Partner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100K user target</a:t>
            </a:r>
            <a:br/>
            <a:r>
              <a:t>• 5+ hospice integrations</a:t>
            </a:r>
            <a:br/>
            <a:r>
              <a:t>• Research publications</a:t>
            </a:r>
            <a:br/>
            <a:r>
              <a:t>• State pilot programs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1828800"/>
            <a:ext cx="4114800" cy="41148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2027+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Global Impact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1M users target</a:t>
            </a:r>
            <a:br/>
            <a:r>
              <a:t>• 10 country adaptations</a:t>
            </a:r>
            <a:br/>
            <a:r>
              <a:t>• Policy integration</a:t>
            </a:r>
            <a:br/>
            <a:r>
              <a:t>• Research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6400800"/>
            <a:ext cx="109728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Current Status: V2 Development — Clinical Validation, Analytics, Personalization</a:t>
            </a:r>
          </a:p>
          <a:p>
            <a:pPr algn="ctr">
              <a:defRPr sz="1400">
                <a:solidFill>
                  <a:srgbClr val="212121"/>
                </a:solidFill>
              </a:defRPr>
            </a:pPr>
            <a:r>
              <a:t>10 V2 components tested and verified (100% pass rate)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How You Can Help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400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Healthcare Professionals</a:t>
            </a:r>
          </a:p>
          <a:p>
            <a:pPr algn="l">
              <a:defRPr sz="1400">
                <a:solidFill>
                  <a:srgbClr val="212121"/>
                </a:solidFill>
              </a:defRPr>
            </a:pPr>
            <a:r>
              <a:t>• Validate clinical content</a:t>
            </a:r>
            <a:br/>
            <a:r>
              <a:t>• Provide feedback</a:t>
            </a:r>
            <a:br/>
            <a:r>
              <a:t>• Refer patients and caregivers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6400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Researchers</a:t>
            </a:r>
          </a:p>
          <a:p>
            <a:pPr algn="l">
              <a:defRPr sz="1400">
                <a:solidFill>
                  <a:srgbClr val="212121"/>
                </a:solidFill>
              </a:defRPr>
            </a:pPr>
            <a:r>
              <a:t>• Collaborate on effectiveness studies</a:t>
            </a:r>
            <a:br/>
            <a:r>
              <a:t>• Contribute to datasets</a:t>
            </a:r>
            <a:br/>
            <a:r>
              <a:t>• Co-author publications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6400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Technologists</a:t>
            </a:r>
          </a:p>
          <a:p>
            <a:pPr algn="l">
              <a:defRPr sz="1400">
                <a:solidFill>
                  <a:srgbClr val="212121"/>
                </a:solidFill>
              </a:defRPr>
            </a:pPr>
            <a:r>
              <a:t>• Contribute to open source code</a:t>
            </a:r>
            <a:br/>
            <a:r>
              <a:t>• Adapt for your region</a:t>
            </a:r>
            <a:br/>
            <a:r>
              <a:t>• Build integrations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114800"/>
            <a:ext cx="6400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Funders &amp; Partners</a:t>
            </a:r>
          </a:p>
          <a:p>
            <a:pPr algn="l">
              <a:defRPr sz="1400">
                <a:solidFill>
                  <a:srgbClr val="212121"/>
                </a:solidFill>
              </a:defRPr>
            </a:pPr>
            <a:r>
              <a:t>• Support infrastructure scaling</a:t>
            </a:r>
            <a:br/>
            <a:r>
              <a:t>• Fund regional adaptations</a:t>
            </a:r>
            <a:br/>
            <a:r>
              <a:t>• Policy advocacy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6583680"/>
            <a:ext cx="109728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D32"/>
                </a:solidFill>
              </a:defRPr>
            </a:pPr>
            <a:r>
              <a:t>GitHub: github.com/inventcures/rag_gci  |  Docs: deepwiki.com/inventcures/rag_gci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Palli Sahayak — Compassionate AI for Palliative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389120"/>
            <a:ext cx="9144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Contact &amp; Resources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GitHub: github.com/inventcures/rag_gci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Documentation: deepwiki.com/inventcures/rag_gci</a:t>
            </a:r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t>Grant: gcgh.grandchallenges.org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13232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Open Source • MIT License • A Digital Public Good for India and the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