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9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पल्ली सहायक  •  Palli Sahayak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C16C"/>
                </a:solidFill>
              </a:defRPr>
            </a:pPr>
            <a:r>
              <a:t>Voice AI for Palliative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57D"/>
                </a:solidFill>
              </a:defRPr>
            </a:pPr>
            <a:r>
              <a:t>Democratizing Healthcare Access Across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A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B4E3D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E2C22"/>
                </a:solidFill>
              </a:defRPr>
            </a:pPr>
            <a:r>
              <a:t>10M+ Indians need palliative care | Only 1-2% have access</a:t>
            </a:r>
            <a:br/>
            <a:r>
              <a:t>Language barriers • Literacy gaps • 24/7 support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E3D"/>
                </a:solidFill>
              </a:defRPr>
            </a:pPr>
            <a:r>
              <a:t>🏆 Grand Challenges India Grant Awardee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90827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B4E3D"/>
                </a:solidFill>
              </a:defRPr>
            </a:pPr>
            <a:r>
              <a:t>Grand Challenges Global Health</a:t>
            </a:r>
          </a:p>
          <a:p>
            <a:pPr>
              <a:spcBef>
                <a:spcPts val="800"/>
              </a:spcBef>
              <a:defRPr sz="1800">
                <a:solidFill>
                  <a:srgbClr val="3E2C22"/>
                </a:solidFill>
              </a:defRPr>
            </a:pPr>
            <a:r>
              <a:t>Clinical Decision Support Tool Using LLMs</a:t>
            </a:r>
          </a:p>
          <a:p>
            <a:pPr>
              <a:spcBef>
                <a:spcPts val="800"/>
              </a:spcBef>
              <a:defRPr sz="1600">
                <a:solidFill>
                  <a:srgbClr val="D4A57D"/>
                </a:solidFill>
              </a:defRPr>
            </a:pPr>
            <a:r>
              <a:t>Awarded: November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4E3D"/>
                </a:solidFill>
              </a:defRPr>
            </a:pPr>
            <a:r>
              <a:t>Principal Investigator: Dr. Anurag Agrawal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6B4E3D"/>
                </a:solidFill>
              </a:defRPr>
            </a:pPr>
            <a:r>
              <a:t>Co-Investigator: Ashish Makani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7059" y="4846320"/>
            <a:ext cx="66575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E2C22"/>
                </a:solidFill>
              </a:defRPr>
            </a:pPr>
            <a:r>
              <a:rPr dirty="0"/>
              <a:t>KCDH</a:t>
            </a:r>
            <a:r>
              <a:rPr lang="en-US" dirty="0"/>
              <a:t>-</a:t>
            </a:r>
            <a:r>
              <a:rPr dirty="0"/>
              <a:t>A </a:t>
            </a:r>
            <a:r>
              <a:rPr lang="en-US" dirty="0"/>
              <a:t>(Koita Centre for Digital Health at Ashoka), Ashoka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Funded by: Gates Foundation (India) &amp; BIRAC-DBT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Co-Designed with Clinical Experts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754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B4E3D"/>
                </a:solidFill>
              </a:defRPr>
            </a:pPr>
            <a:r>
              <a:t>🏥 Max Healthcare</a:t>
            </a:r>
          </a:p>
          <a:p>
            <a:pPr>
              <a:defRPr sz="1800">
                <a:solidFill>
                  <a:srgbClr val="3E2C22"/>
                </a:solidFill>
              </a:defRPr>
            </a:pPr>
            <a:r>
              <a:t>New Delhi</a:t>
            </a:r>
          </a:p>
          <a:p>
            <a:pPr>
              <a:defRPr sz="1600" b="1">
                <a:solidFill>
                  <a:srgbClr val="D4A57D"/>
                </a:solidFill>
              </a:defRPr>
            </a:pPr>
            <a:r>
              <a:t>Tertiary Care Expertise</a:t>
            </a:r>
          </a:p>
          <a:p>
            <a:pPr>
              <a:defRPr sz="1400">
                <a:solidFill>
                  <a:srgbClr val="3E2C22"/>
                </a:solidFill>
              </a:defRPr>
            </a:pPr>
            <a:r>
              <a:t>• Case vignettes curation</a:t>
            </a:r>
            <a:br/>
            <a:r>
              <a:t>• Clinical validation</a:t>
            </a:r>
            <a:br/>
            <a:r>
              <a:t>• Quality assurance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754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B4E3D"/>
                </a:solidFill>
              </a:defRPr>
            </a:pPr>
            <a:r>
              <a:t>💚 Pallium India</a:t>
            </a:r>
          </a:p>
          <a:p>
            <a:pPr>
              <a:defRPr sz="1800">
                <a:solidFill>
                  <a:srgbClr val="3E2C22"/>
                </a:solidFill>
              </a:defRPr>
            </a:pPr>
            <a:r>
              <a:t>Kerala</a:t>
            </a:r>
          </a:p>
          <a:p>
            <a:pPr>
              <a:defRPr sz="1600" b="1">
                <a:solidFill>
                  <a:srgbClr val="D4A57D"/>
                </a:solidFill>
              </a:defRPr>
            </a:pPr>
            <a:r>
              <a:t>Community Care Pioneers</a:t>
            </a:r>
          </a:p>
          <a:p>
            <a:pPr>
              <a:defRPr sz="1400">
                <a:solidFill>
                  <a:srgbClr val="3E2C22"/>
                </a:solidFill>
              </a:defRPr>
            </a:pPr>
            <a:r>
              <a:t>• Community health worker training</a:t>
            </a:r>
            <a:br/>
            <a:r>
              <a:t>• Grassroots implementation</a:t>
            </a:r>
            <a:br/>
            <a:r>
              <a:t>• Rural care protocols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10362895" cy="914400"/>
          </a:xfrm>
          <a:prstGeom prst="roundRect">
            <a:avLst/>
          </a:prstGeom>
          <a:solidFill>
            <a:srgbClr val="F5C16C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📚 Knowledge Base: Indian Palliative Care Case Vignettes curated by Max Healthcare &amp; Pallium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4E3D"/>
                </a:solidFill>
              </a:defRPr>
            </a:pPr>
            <a:r>
              <a:rPr dirty="0"/>
              <a:t>🎬 Watch: Palliative Care Doctor Interacting with Demo in Marathi</a:t>
            </a:r>
          </a:p>
          <a:p>
            <a:pPr algn="ctr">
              <a:spcBef>
                <a:spcPts val="800"/>
              </a:spcBef>
              <a:defRPr sz="1600">
                <a:solidFill>
                  <a:srgbClr val="3E2C22"/>
                </a:solidFill>
              </a:defRPr>
            </a:pPr>
            <a:r>
              <a:rPr dirty="0"/>
              <a:t>Demonstrating natural conversation in regional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Solution: India's First Voice AI Palliative Care Helpline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Multi-modal access: Phone, WhatsApp, Web Voice</a:t>
            </a:r>
          </a:p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7+ Indian languages: Hindi, Marathi, Bengali, Tamil, Punjabi, Malayalam, English</a:t>
            </a:r>
          </a:p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3 Voice AI providers for redundancy &amp; coverage</a:t>
            </a:r>
          </a:p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RAG-powered knowledge base from Indian case vignettes</a:t>
            </a:r>
          </a:p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Co-designed with Max Healthcare &amp; Pallium India</a:t>
            </a:r>
          </a:p>
          <a:p>
            <a:pPr>
              <a:spcAft>
                <a:spcPts val="1400"/>
              </a:spcAft>
              <a:defRPr sz="2000" b="0">
                <a:solidFill>
                  <a:srgbClr val="3E2C22"/>
                </a:solidFill>
              </a:defRPr>
            </a:pPr>
            <a:r>
              <a:t>No PHI stored • HIPAA-aligned • Session expires in 24h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03520"/>
            <a:ext cx="10881360" cy="1188720"/>
          </a:xfrm>
          <a:prstGeom prst="roundRect">
            <a:avLst/>
          </a:prstGeom>
          <a:solidFill>
            <a:srgbClr val="F5C16C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🎬 LIVE DEMO: Voice interaction in Marathi with Palliative Care Doctor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Multi-Provider Voice AI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91440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E2C22"/>
                </a:solidFill>
              </a:defRPr>
            </a:pPr>
            <a:r>
              <a:t>🎙️ Gemini Live</a:t>
            </a:r>
            <a:br/>
            <a:r>
              <a:t>Web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291840" cy="914400"/>
          </a:xfrm>
          <a:prstGeom prst="roundRect">
            <a:avLst/>
          </a:prstGeom>
          <a:solidFill>
            <a:srgbClr val="87CEEB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7830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E2C22"/>
                </a:solidFill>
              </a:defRPr>
            </a:pPr>
            <a:r>
              <a:t>📞 Bolna.ai</a:t>
            </a:r>
            <a:br/>
            <a:r>
              <a:t>Phone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291840" cy="914400"/>
          </a:xfrm>
          <a:prstGeom prst="roundRect">
            <a:avLst/>
          </a:prstGeom>
          <a:solidFill>
            <a:srgbClr val="DDA0DD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178308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E2C22"/>
                </a:solidFill>
              </a:defRPr>
            </a:pPr>
            <a:r>
              <a:t>📱 Retell+Vobiz</a:t>
            </a:r>
            <a:br/>
            <a:r>
              <a:t>PSTN +91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926080"/>
            <a:ext cx="3200400" cy="640080"/>
          </a:xfrm>
          <a:prstGeom prst="roundRect">
            <a:avLst/>
          </a:prstGeom>
          <a:solidFill>
            <a:srgbClr val="F5C16C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E2C22"/>
                </a:solidFill>
              </a:defRPr>
            </a:pPr>
            <a:r>
              <a:t>🔀 Voice Router + Safety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840480"/>
            <a:ext cx="8503920" cy="914400"/>
          </a:xfrm>
          <a:prstGeom prst="roundRect">
            <a:avLst/>
          </a:prstGeom>
          <a:solidFill>
            <a:srgbClr val="F0E68C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39776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E2C22"/>
                </a:solidFill>
              </a:defRPr>
            </a:pPr>
            <a:r>
              <a:t>🏥 RAG Pipeline + Knowledge Graph + Longitudinal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3474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📚 Indian Palliative Care</a:t>
            </a:r>
            <a:br/>
            <a:r>
              <a:t>Case Vignettes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5029200"/>
            <a:ext cx="3474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🧠 Neo4j</a:t>
            </a:r>
            <a:br/>
            <a:r>
              <a:t>Knowledge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200"/>
            <a:ext cx="3474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💊 Patient Context</a:t>
            </a:r>
            <a:br/>
            <a:r>
              <a:t>Memory (1-5 years)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633" y="-10633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B4E3D"/>
                </a:solidFill>
              </a:defRPr>
            </a:pPr>
            <a:r>
              <a:t>⭐ NEW: 5 Production-Grade Safety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57D"/>
                </a:solidFill>
              </a:defRPr>
            </a:pPr>
            <a:r>
              <a:t>Implemented Today - January 28,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E3D"/>
                </a:solidFill>
              </a:defRPr>
            </a:pPr>
            <a:r>
              <a:t>Emergency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087" y="2286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2C22"/>
                </a:solidFill>
              </a:defRPr>
            </a:pPr>
            <a:r>
              <a:t>5 languages | Auto-escalation | Caregiver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4864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E3D"/>
                </a:solidFill>
              </a:defRPr>
            </a:pPr>
            <a:r>
              <a:t>Evidence Badges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2C22"/>
                </a:solidFill>
              </a:defRPr>
            </a:pPr>
            <a:r>
              <a:t>Confidence scores | Source quality | Physician consult warnings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54864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11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E3D"/>
                </a:solidFill>
              </a:defRPr>
            </a:pPr>
            <a:r>
              <a:t>Smart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2C22"/>
                </a:solidFill>
              </a:defRPr>
            </a:pPr>
            <a:r>
              <a:t>User-adaptive length | Voice-optimized | 3 comprehension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74720"/>
            <a:ext cx="54864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566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11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E3D"/>
                </a:solidFill>
              </a:defRPr>
            </a:pPr>
            <a:r>
              <a:t>Human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14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2C22"/>
                </a:solidFill>
              </a:defRPr>
            </a:pPr>
            <a:r>
              <a:t>Warm transfer | Request tracking | Priority 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5303520"/>
            <a:ext cx="54864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5394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440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B4E3D"/>
                </a:solidFill>
              </a:defRPr>
            </a:pPr>
            <a:r>
              <a:t>Voice Reminders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943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E2C22"/>
                </a:solidFill>
              </a:defRPr>
            </a:pPr>
            <a:r>
              <a:t>Automated calls | DTMF confirmation | Adherence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Live Demo: Patient Journey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Patient calls toll-free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Voice input in Hindi/Marathi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AI detects language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Natural conversation begins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Patient: 'माँ को दर्द है, क्या करूं?'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Symptom description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System queries RAG + Knowledge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Retrieves relevant cases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7365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Voice response with evidence badge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Confidence score displayed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86400"/>
            <a:ext cx="457200" cy="457200"/>
          </a:xfrm>
          <a:prstGeom prst="ellipse">
            <a:avLst/>
          </a:prstGeom>
          <a:solidFill>
            <a:srgbClr val="F5C16C"/>
          </a:solidFill>
          <a:ln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55955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2C22"/>
                </a:solidFill>
              </a:defRPr>
            </a:pPr>
            <a:r>
              <a:t>Emergency? → Instant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7D"/>
                </a:solidFill>
              </a:defRPr>
            </a:pPr>
            <a:r>
              <a:t>Safety check triggers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371600"/>
            <a:ext cx="5029200" cy="4846320"/>
          </a:xfrm>
          <a:prstGeom prst="roundRect">
            <a:avLst/>
          </a:prstGeom>
          <a:solidFill>
            <a:srgbClr val="F5C16C"/>
          </a:solidFill>
          <a:ln w="381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B4E3D"/>
                </a:solidFill>
              </a:defRPr>
            </a:pPr>
            <a:r>
              <a:t>🎥 DEMO HIGHLIGHTS</a:t>
            </a:r>
          </a:p>
          <a:p>
            <a:br/>
            <a:r>
              <a:t>• Voice call in Marathi</a:t>
            </a:r>
            <a:br/>
            <a:r>
              <a:t>• Doctor testing the system</a:t>
            </a:r>
            <a:br/>
            <a:r>
              <a:t>• Natural conversation flow</a:t>
            </a:r>
            <a:br/>
            <a:r>
              <a:t>• Real-time RAG retrieval</a:t>
            </a:r>
            <a:br/>
            <a:r>
              <a:t>• Safety feature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Impact &amp;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6B4E3D"/>
                </a:solidFill>
              </a:defRPr>
            </a:pPr>
            <a:r>
              <a:t>7+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Indian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Hindi, Bengali, Tamil, Marathi, Punjabi, Malayalam,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6B4E3D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Voice AI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Gemini Live, Bolna.ai, Retell+Vobiz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6B4E3D"/>
                </a:solidFill>
              </a:defRPr>
            </a:pPr>
            <a:r>
              <a:t>10M+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Patients in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Only 1-2% currently have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D4A57D"/>
          </a:solidFill>
          <a:ln w="25400">
            <a:solidFill>
              <a:srgbClr val="F5C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40690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6B4E3D"/>
                </a:solidFill>
              </a:defRPr>
            </a:pPr>
            <a: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920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E2C22"/>
                </a:solidFill>
              </a:defRPr>
            </a:pPr>
            <a: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49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E2C22"/>
                </a:solidFill>
              </a:defRPr>
            </a:pPr>
            <a:r>
              <a:t>Always-on helpline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B4E3D"/>
                </a:solidFill>
              </a:defRPr>
            </a:pPr>
            <a:r>
              <a:t>🌍 A Digital Public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E2C22"/>
                </a:solidFill>
              </a:defRPr>
            </a:pPr>
            <a:r>
              <a:t>●  Open Source: github.com/inventcures/rag_gci</a:t>
            </a:r>
          </a:p>
          <a:p>
            <a:pPr>
              <a:spcAft>
                <a:spcPts val="1000"/>
              </a:spcAft>
              <a:defRPr sz="1800">
                <a:solidFill>
                  <a:srgbClr val="3E2C22"/>
                </a:solidFill>
              </a:defRPr>
            </a:pPr>
            <a:r>
              <a:t>●  Documentation: deepwiki.com/inventcures/rag_gci</a:t>
            </a:r>
          </a:p>
          <a:p>
            <a:pPr>
              <a:spcAft>
                <a:spcPts val="1000"/>
              </a:spcAft>
              <a:defRPr sz="1800">
                <a:solidFill>
                  <a:srgbClr val="3E2C22"/>
                </a:solidFill>
              </a:defRPr>
            </a:pPr>
            <a:r>
              <a:t>●  Licensed for free use, modification, and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3E2C22"/>
                </a:solidFill>
              </a:defRPr>
            </a:pPr>
            <a:r>
              <a:t>●  Adaptable for any country, language, or medical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566160"/>
            <a:ext cx="8534095" cy="1188720"/>
          </a:xfrm>
          <a:prstGeom prst="roundRect">
            <a:avLst/>
          </a:prstGeom>
          <a:solidFill>
            <a:srgbClr val="F5C16C"/>
          </a:solidFill>
          <a:ln w="25400">
            <a:solidFill>
              <a:srgbClr val="6B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3749039"/>
            <a:ext cx="8168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4E3D"/>
                </a:solidFill>
              </a:defRPr>
            </a:pPr>
            <a:r>
              <a:t>Contributing to UN Sustainable Development Goals:</a:t>
            </a:r>
          </a:p>
          <a:p>
            <a:pPr algn="ctr">
              <a:defRPr sz="1600">
                <a:solidFill>
                  <a:srgbClr val="3E2C22"/>
                </a:solidFill>
              </a:defRPr>
            </a:pPr>
            <a:r>
              <a:t>SDG 3: Good Health &amp; Well-being | SDG 10: Reduced Inequalities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4E3D"/>
                </a:solidFill>
              </a:defRPr>
            </a:pPr>
            <a:r>
              <a:t>Built with ❤️ by the Palli Sahayak Team</a:t>
            </a:r>
          </a:p>
          <a:p>
            <a:br/>
            <a:r>
              <a:t>Powered by: Groq, Google Gemini, Deepgram, ElevenLabs, ChromaDB, Neo4j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धन्यवाद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5C16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4A57D"/>
                </a:solidFill>
              </a:defRPr>
            </a:pPr>
            <a:r>
              <a:t>Palli Sahayak: Your Companion in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inventcures.github.io/palli-sahayak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639</Words>
  <Application>Microsoft Macintosh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makani -- Ashoka University</cp:lastModifiedBy>
  <cp:revision>3</cp:revision>
  <dcterms:created xsi:type="dcterms:W3CDTF">2013-01-27T09:14:16Z</dcterms:created>
  <dcterms:modified xsi:type="dcterms:W3CDTF">2026-01-28T14:44:04Z</dcterms:modified>
  <cp:category/>
</cp:coreProperties>
</file>